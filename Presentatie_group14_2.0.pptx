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Inter" panose="020B0604020202020204" charset="0"/>
      <p:regular r:id="rId5"/>
    </p:embeddedFont>
    <p:embeddedFont>
      <p:font typeface="Inter Bold" panose="020B0604020202020204" charset="0"/>
      <p:regular r:id="rId6"/>
    </p:embeddedFont>
    <p:embeddedFont>
      <p:font typeface="Inter Semi-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>
            <a:off x="10664354" y="0"/>
            <a:ext cx="7623646" cy="10287000"/>
          </a:xfrm>
          <a:custGeom>
            <a:avLst/>
            <a:gdLst/>
            <a:ahLst/>
            <a:cxnLst/>
            <a:rect l="l" t="t" r="r" b="b"/>
            <a:pathLst>
              <a:path w="7623646" h="10287000">
                <a:moveTo>
                  <a:pt x="0" y="0"/>
                </a:moveTo>
                <a:lnTo>
                  <a:pt x="7623646" y="0"/>
                </a:lnTo>
                <a:lnTo>
                  <a:pt x="7623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4" name="TextBox 4"/>
          <p:cNvSpPr txBox="1"/>
          <p:nvPr/>
        </p:nvSpPr>
        <p:spPr>
          <a:xfrm>
            <a:off x="595619" y="827125"/>
            <a:ext cx="10089635" cy="147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9622" b="1" spc="-93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THE CHALLENGE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661261" y="3179407"/>
            <a:ext cx="8883320" cy="150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4939" b="1" spc="-48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King’s Day</a:t>
            </a:r>
            <a:r>
              <a:rPr lang="en-US" sz="4939" b="1" spc="-48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: Can the railway network handle the demand?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681" y="5137877"/>
            <a:ext cx="7813474" cy="52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3"/>
              </a:lnSpc>
            </a:pPr>
            <a:r>
              <a:rPr lang="en-US" sz="3418" spc="-3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27 April 2024 — The Netherlands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6428009"/>
            <a:ext cx="4145426" cy="2787657"/>
          </a:xfrm>
          <a:custGeom>
            <a:avLst/>
            <a:gdLst/>
            <a:ahLst/>
            <a:cxnLst/>
            <a:rect l="l" t="t" r="r" b="b"/>
            <a:pathLst>
              <a:path w="4145426" h="2787657">
                <a:moveTo>
                  <a:pt x="0" y="0"/>
                </a:moveTo>
                <a:lnTo>
                  <a:pt x="4145426" y="0"/>
                </a:lnTo>
                <a:lnTo>
                  <a:pt x="4145426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TextBox 9"/>
          <p:cNvSpPr txBox="1"/>
          <p:nvPr/>
        </p:nvSpPr>
        <p:spPr>
          <a:xfrm>
            <a:off x="1361195" y="7210138"/>
            <a:ext cx="2610777" cy="1116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2"/>
              </a:lnSpc>
            </a:pPr>
            <a:r>
              <a:rPr lang="en-US" sz="3717" b="1" spc="-36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Large-scale event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79818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Freeform 11"/>
          <p:cNvSpPr/>
          <p:nvPr/>
        </p:nvSpPr>
        <p:spPr>
          <a:xfrm>
            <a:off x="5873598" y="6428009"/>
            <a:ext cx="4145426" cy="2787657"/>
          </a:xfrm>
          <a:custGeom>
            <a:avLst/>
            <a:gdLst/>
            <a:ahLst/>
            <a:cxnLst/>
            <a:rect l="l" t="t" r="r" b="b"/>
            <a:pathLst>
              <a:path w="4145426" h="2787657">
                <a:moveTo>
                  <a:pt x="0" y="0"/>
                </a:moveTo>
                <a:lnTo>
                  <a:pt x="4145426" y="0"/>
                </a:lnTo>
                <a:lnTo>
                  <a:pt x="4145426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6311110" y="7062064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6981497" y="7227986"/>
            <a:ext cx="2353687" cy="108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3"/>
              </a:lnSpc>
            </a:pPr>
            <a:r>
              <a:rPr lang="en-US" sz="3585" b="1" spc="-35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Passenger demand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08086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5" name="Freeform 15"/>
          <p:cNvSpPr/>
          <p:nvPr/>
        </p:nvSpPr>
        <p:spPr>
          <a:xfrm>
            <a:off x="11101866" y="6428009"/>
            <a:ext cx="3926670" cy="2787657"/>
          </a:xfrm>
          <a:custGeom>
            <a:avLst/>
            <a:gdLst/>
            <a:ahLst/>
            <a:cxnLst/>
            <a:rect l="l" t="t" r="r" b="b"/>
            <a:pathLst>
              <a:path w="3926670" h="2787657">
                <a:moveTo>
                  <a:pt x="0" y="0"/>
                </a:moveTo>
                <a:lnTo>
                  <a:pt x="3926670" y="0"/>
                </a:lnTo>
                <a:lnTo>
                  <a:pt x="3926670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6" name="TextBox 16"/>
          <p:cNvSpPr txBox="1"/>
          <p:nvPr/>
        </p:nvSpPr>
        <p:spPr>
          <a:xfrm>
            <a:off x="11589284" y="7629092"/>
            <a:ext cx="2842184" cy="107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541" b="1" spc="-34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Railway performance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36237" y="6749989"/>
            <a:ext cx="370245" cy="87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831" b="1" spc="-56">
                <a:solidFill>
                  <a:srgbClr val="E17411"/>
                </a:solidFill>
                <a:latin typeface="Inter Bold"/>
                <a:ea typeface="Inter Bold"/>
                <a:cs typeface="Inter Bold"/>
                <a:sym typeface="Inter Bold"/>
              </a:rPr>
              <a:t>?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976890" cy="10287000"/>
          </a:xfrm>
          <a:custGeom>
            <a:avLst/>
            <a:gdLst/>
            <a:ahLst/>
            <a:cxnLst/>
            <a:rect l="l" t="t" r="r" b="b"/>
            <a:pathLst>
              <a:path w="11976890" h="1028700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1760986" cy="229572"/>
          </a:xfrm>
          <a:custGeom>
            <a:avLst/>
            <a:gdLst/>
            <a:ahLst/>
            <a:cxnLst/>
            <a:rect l="l" t="t" r="r" b="b"/>
            <a:pathLst>
              <a:path w="1760986" h="229572">
                <a:moveTo>
                  <a:pt x="0" y="0"/>
                </a:moveTo>
                <a:lnTo>
                  <a:pt x="1760986" y="0"/>
                </a:lnTo>
                <a:lnTo>
                  <a:pt x="176098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5" name="Freeform 5"/>
          <p:cNvSpPr/>
          <p:nvPr/>
        </p:nvSpPr>
        <p:spPr>
          <a:xfrm>
            <a:off x="426574" y="599072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1200695" y="6067139"/>
            <a:ext cx="8517960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 spc="-51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Passenger volume: </a:t>
            </a:r>
            <a:r>
              <a:rPr lang="en-US" sz="2575" spc="-51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much does demand increase?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6635716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8" name="Freeform 8"/>
          <p:cNvSpPr/>
          <p:nvPr/>
        </p:nvSpPr>
        <p:spPr>
          <a:xfrm>
            <a:off x="426574" y="7707051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Freeform 9"/>
          <p:cNvSpPr/>
          <p:nvPr/>
        </p:nvSpPr>
        <p:spPr>
          <a:xfrm>
            <a:off x="645330" y="8352038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0" name="Freeform 10"/>
          <p:cNvSpPr/>
          <p:nvPr/>
        </p:nvSpPr>
        <p:spPr>
          <a:xfrm>
            <a:off x="9637131" y="0"/>
            <a:ext cx="8650869" cy="10307259"/>
          </a:xfrm>
          <a:custGeom>
            <a:avLst/>
            <a:gdLst/>
            <a:ahLst/>
            <a:cxnLst/>
            <a:rect l="l" t="t" r="r" b="b"/>
            <a:pathLst>
              <a:path w="8650869" h="10307259">
                <a:moveTo>
                  <a:pt x="0" y="0"/>
                </a:moveTo>
                <a:lnTo>
                  <a:pt x="8650869" y="0"/>
                </a:lnTo>
                <a:lnTo>
                  <a:pt x="8650869" y="10307259"/>
                </a:lnTo>
                <a:lnTo>
                  <a:pt x="0" y="10307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TextBox 11"/>
          <p:cNvSpPr txBox="1"/>
          <p:nvPr/>
        </p:nvSpPr>
        <p:spPr>
          <a:xfrm>
            <a:off x="510223" y="682927"/>
            <a:ext cx="7913588" cy="850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b="1" spc="-240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RESEARCH QUESTION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571" y="2305653"/>
            <a:ext cx="6478807" cy="109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2"/>
              </a:lnSpc>
            </a:pPr>
            <a:r>
              <a:rPr lang="en-US" sz="3939" b="1" spc="-7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How </a:t>
            </a:r>
            <a:r>
              <a:rPr lang="en-US" sz="3939" b="1" spc="-78">
                <a:solidFill>
                  <a:srgbClr val="E47214"/>
                </a:solidFill>
                <a:latin typeface="Inter Bold"/>
                <a:ea typeface="Inter Bold"/>
                <a:cs typeface="Inter Bold"/>
                <a:sym typeface="Inter Bold"/>
              </a:rPr>
              <a:t>resilient</a:t>
            </a:r>
            <a:r>
              <a:rPr lang="en-US" sz="3939" b="1" spc="-78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is the railway network during King’s Day?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118" y="3874596"/>
            <a:ext cx="7924128" cy="170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does the Dutch railway network respond to increased passenger demand during King’s Day, in terms of </a:t>
            </a:r>
            <a:r>
              <a:rPr lang="en-US" sz="2654" b="1" spc="-53">
                <a:solidFill>
                  <a:srgbClr val="E47214"/>
                </a:solidFill>
                <a:latin typeface="Inter Bold"/>
                <a:ea typeface="Inter Bold"/>
                <a:cs typeface="Inter Bold"/>
                <a:sym typeface="Inter Bold"/>
              </a:rPr>
              <a:t>passenger volumes, train services and punctuality</a:t>
            </a:r>
            <a:r>
              <a:rPr lang="en-US" sz="2654" spc="-53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5622" y="6715225"/>
            <a:ext cx="6025273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Train services: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How do frequency and the timetable change?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580" y="7814667"/>
            <a:ext cx="5129488" cy="414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Punctuality: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Do delays increase?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6312" y="8492405"/>
            <a:ext cx="6956305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Location: </a:t>
            </a:r>
            <a:r>
              <a:rPr lang="en-US" sz="2601" spc="-5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Which stations around Amsterdam are most affected?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TextBox 3"/>
          <p:cNvSpPr txBox="1"/>
          <p:nvPr/>
        </p:nvSpPr>
        <p:spPr>
          <a:xfrm>
            <a:off x="482043" y="766699"/>
            <a:ext cx="8052706" cy="89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6746" b="1" spc="-13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PYTHON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1760986" cy="448211"/>
          </a:xfrm>
          <a:custGeom>
            <a:avLst/>
            <a:gdLst/>
            <a:ahLst/>
            <a:cxnLst/>
            <a:rect l="l" t="t" r="r" b="b"/>
            <a:pathLst>
              <a:path w="1760986" h="448211">
                <a:moveTo>
                  <a:pt x="0" y="0"/>
                </a:moveTo>
                <a:lnTo>
                  <a:pt x="1760986" y="0"/>
                </a:lnTo>
                <a:lnTo>
                  <a:pt x="17609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5" name="Freeform 5"/>
          <p:cNvSpPr/>
          <p:nvPr/>
        </p:nvSpPr>
        <p:spPr>
          <a:xfrm>
            <a:off x="0" y="2350377"/>
            <a:ext cx="8279914" cy="6865288"/>
          </a:xfrm>
          <a:custGeom>
            <a:avLst/>
            <a:gdLst/>
            <a:ahLst/>
            <a:cxnLst/>
            <a:rect l="l" t="t" r="r" b="b"/>
            <a:pathLst>
              <a:path w="8279914" h="6865288">
                <a:moveTo>
                  <a:pt x="0" y="0"/>
                </a:moveTo>
                <a:lnTo>
                  <a:pt x="8279914" y="0"/>
                </a:lnTo>
                <a:lnTo>
                  <a:pt x="827991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" name="TextBox 6"/>
          <p:cNvSpPr txBox="1"/>
          <p:nvPr/>
        </p:nvSpPr>
        <p:spPr>
          <a:xfrm>
            <a:off x="8727725" y="2336561"/>
            <a:ext cx="3229796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267" b="1" spc="-45">
                <a:solidFill>
                  <a:srgbClr val="E47C18"/>
                </a:solidFill>
                <a:latin typeface="Inter Bold"/>
                <a:ea typeface="Inter Bold"/>
                <a:cs typeface="Inter Bold"/>
                <a:sym typeface="Inter Bold"/>
              </a:rPr>
              <a:t>ANALYSIS WORKFLOW</a:t>
            </a:r>
          </a:p>
        </p:txBody>
      </p:sp>
      <p:sp>
        <p:nvSpPr>
          <p:cNvPr id="7" name="Freeform 7"/>
          <p:cNvSpPr/>
          <p:nvPr/>
        </p:nvSpPr>
        <p:spPr>
          <a:xfrm>
            <a:off x="8487732" y="2995365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8" name="Freeform 8"/>
          <p:cNvSpPr/>
          <p:nvPr/>
        </p:nvSpPr>
        <p:spPr>
          <a:xfrm>
            <a:off x="10008086" y="3848060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9" name="Freeform 9"/>
          <p:cNvSpPr/>
          <p:nvPr/>
        </p:nvSpPr>
        <p:spPr>
          <a:xfrm>
            <a:off x="8487732" y="4493047"/>
            <a:ext cx="3707914" cy="1082267"/>
          </a:xfrm>
          <a:custGeom>
            <a:avLst/>
            <a:gdLst/>
            <a:ahLst/>
            <a:cxnLst/>
            <a:rect l="l" t="t" r="r" b="b"/>
            <a:pathLst>
              <a:path w="3707914" h="1082267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0" name="TextBox 10"/>
          <p:cNvSpPr txBox="1"/>
          <p:nvPr/>
        </p:nvSpPr>
        <p:spPr>
          <a:xfrm>
            <a:off x="9329632" y="4831124"/>
            <a:ext cx="2026178" cy="39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601" b="1" spc="-5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Clean &amp; filter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008086" y="535667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8487732" y="5990729"/>
            <a:ext cx="3707914" cy="1519546"/>
          </a:xfrm>
          <a:custGeom>
            <a:avLst/>
            <a:gdLst/>
            <a:ahLst/>
            <a:cxnLst/>
            <a:rect l="l" t="t" r="r" b="b"/>
            <a:pathLst>
              <a:path w="3707914" h="1519546">
                <a:moveTo>
                  <a:pt x="0" y="0"/>
                </a:moveTo>
                <a:lnTo>
                  <a:pt x="3707914" y="0"/>
                </a:lnTo>
                <a:lnTo>
                  <a:pt x="370791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9147305" y="6369518"/>
            <a:ext cx="2390832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Compare event vs. control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08086" y="728070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5" name="Freeform 15"/>
          <p:cNvSpPr/>
          <p:nvPr/>
        </p:nvSpPr>
        <p:spPr>
          <a:xfrm>
            <a:off x="8487732" y="7707051"/>
            <a:ext cx="3707914" cy="1508614"/>
          </a:xfrm>
          <a:custGeom>
            <a:avLst/>
            <a:gdLst/>
            <a:ahLst/>
            <a:cxnLst/>
            <a:rect l="l" t="t" r="r" b="b"/>
            <a:pathLst>
              <a:path w="3707914" h="15086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6" name="TextBox 16"/>
          <p:cNvSpPr txBox="1"/>
          <p:nvPr/>
        </p:nvSpPr>
        <p:spPr>
          <a:xfrm>
            <a:off x="9448896" y="8086454"/>
            <a:ext cx="1787651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Visualise differences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622220" y="2350377"/>
            <a:ext cx="229694" cy="6865288"/>
          </a:xfrm>
          <a:custGeom>
            <a:avLst/>
            <a:gdLst/>
            <a:ahLst/>
            <a:cxnLst/>
            <a:rect l="l" t="t" r="r" b="b"/>
            <a:pathLst>
              <a:path w="229694" h="6865288">
                <a:moveTo>
                  <a:pt x="0" y="0"/>
                </a:moveTo>
                <a:lnTo>
                  <a:pt x="229694" y="0"/>
                </a:lnTo>
                <a:lnTo>
                  <a:pt x="22969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8" name="TextBox 18"/>
          <p:cNvSpPr txBox="1"/>
          <p:nvPr/>
        </p:nvSpPr>
        <p:spPr>
          <a:xfrm>
            <a:off x="13802923" y="2336561"/>
            <a:ext cx="2023349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267" b="1" spc="-45">
                <a:solidFill>
                  <a:srgbClr val="E47C18"/>
                </a:solidFill>
                <a:latin typeface="Inter Bold"/>
                <a:ea typeface="Inter Bold"/>
                <a:cs typeface="Inter Bold"/>
                <a:sym typeface="Inter Bold"/>
              </a:rPr>
              <a:t>KEY OUTPUTS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53307" y="3454451"/>
            <a:ext cx="3406842" cy="4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023" b="1" spc="-6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Passenger volume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537952" y="3214004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1" name="TextBox 21"/>
          <p:cNvSpPr txBox="1"/>
          <p:nvPr/>
        </p:nvSpPr>
        <p:spPr>
          <a:xfrm>
            <a:off x="13258453" y="4875705"/>
            <a:ext cx="2892221" cy="45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953" b="1" spc="-59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Train frequency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319196" y="4711687"/>
            <a:ext cx="1323474" cy="863627"/>
          </a:xfrm>
          <a:custGeom>
            <a:avLst/>
            <a:gdLst/>
            <a:ahLst/>
            <a:cxnLst/>
            <a:rect l="l" t="t" r="r" b="b"/>
            <a:pathLst>
              <a:path w="1323474" h="863627">
                <a:moveTo>
                  <a:pt x="0" y="0"/>
                </a:moveTo>
                <a:lnTo>
                  <a:pt x="1323474" y="0"/>
                </a:lnTo>
                <a:lnTo>
                  <a:pt x="132347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3" name="TextBox 23"/>
          <p:cNvSpPr txBox="1"/>
          <p:nvPr/>
        </p:nvSpPr>
        <p:spPr>
          <a:xfrm>
            <a:off x="13253408" y="6421437"/>
            <a:ext cx="3396664" cy="4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3023" b="1" spc="-6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Delay / punctuality</a:t>
            </a:r>
          </a:p>
        </p:txBody>
      </p:sp>
      <p:sp>
        <p:nvSpPr>
          <p:cNvPr id="24" name="Freeform 24"/>
          <p:cNvSpPr/>
          <p:nvPr/>
        </p:nvSpPr>
        <p:spPr>
          <a:xfrm>
            <a:off x="16537952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5" name="TextBox 25"/>
          <p:cNvSpPr txBox="1"/>
          <p:nvPr/>
        </p:nvSpPr>
        <p:spPr>
          <a:xfrm>
            <a:off x="13253099" y="8008361"/>
            <a:ext cx="3427589" cy="45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0" b="1" spc="-59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Station differences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6756708" y="7707051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7" name="TextBox 27"/>
          <p:cNvSpPr txBox="1"/>
          <p:nvPr/>
        </p:nvSpPr>
        <p:spPr>
          <a:xfrm>
            <a:off x="9982078" y="3369622"/>
            <a:ext cx="721287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8" b="1" spc="-5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</Words>
  <Application>Microsoft Office PowerPoint</Application>
  <PresentationFormat>Aangepast</PresentationFormat>
  <Paragraphs>25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9" baseType="lpstr">
      <vt:lpstr>Inter</vt:lpstr>
      <vt:lpstr>Inter Bold</vt:lpstr>
      <vt:lpstr>Calibri</vt:lpstr>
      <vt:lpstr>Inter Semi-Bold</vt:lpstr>
      <vt:lpstr>Arial</vt:lpstr>
      <vt:lpstr>Office Theme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Bart Stevens</cp:lastModifiedBy>
  <cp:revision>3</cp:revision>
  <dcterms:created xsi:type="dcterms:W3CDTF">2006-08-16T00:00:00Z</dcterms:created>
  <dcterms:modified xsi:type="dcterms:W3CDTF">2026-10-08T13:42:56Z</dcterms:modified>
  <dc:identifier>DAHXbV4JOXg</dc:identifier>
</cp:coreProperties>
</file>